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88" r:id="rId3"/>
    <p:sldId id="296" r:id="rId4"/>
    <p:sldId id="295" r:id="rId5"/>
    <p:sldId id="289" r:id="rId6"/>
    <p:sldId id="297" r:id="rId7"/>
    <p:sldId id="283" r:id="rId8"/>
    <p:sldId id="298" r:id="rId9"/>
    <p:sldId id="266" r:id="rId10"/>
    <p:sldId id="299" r:id="rId11"/>
    <p:sldId id="278" r:id="rId12"/>
    <p:sldId id="300" r:id="rId13"/>
    <p:sldId id="276" r:id="rId14"/>
    <p:sldId id="301" r:id="rId15"/>
    <p:sldId id="285" r:id="rId16"/>
    <p:sldId id="302" r:id="rId17"/>
    <p:sldId id="269" r:id="rId18"/>
    <p:sldId id="303" r:id="rId19"/>
    <p:sldId id="277" r:id="rId20"/>
    <p:sldId id="304" r:id="rId21"/>
    <p:sldId id="284" r:id="rId22"/>
    <p:sldId id="305" r:id="rId23"/>
    <p:sldId id="268" r:id="rId24"/>
    <p:sldId id="311" r:id="rId25"/>
    <p:sldId id="261" r:id="rId26"/>
    <p:sldId id="312" r:id="rId27"/>
    <p:sldId id="270" r:id="rId28"/>
    <p:sldId id="313" r:id="rId29"/>
    <p:sldId id="292" r:id="rId30"/>
    <p:sldId id="306" r:id="rId31"/>
    <p:sldId id="281" r:id="rId32"/>
    <p:sldId id="307" r:id="rId33"/>
    <p:sldId id="262" r:id="rId34"/>
    <p:sldId id="308" r:id="rId35"/>
    <p:sldId id="257" r:id="rId36"/>
    <p:sldId id="309" r:id="rId37"/>
    <p:sldId id="263" r:id="rId38"/>
    <p:sldId id="310" r:id="rId39"/>
    <p:sldId id="256" r:id="rId40"/>
    <p:sldId id="314" r:id="rId41"/>
    <p:sldId id="293" r:id="rId42"/>
    <p:sldId id="315" r:id="rId43"/>
    <p:sldId id="279" r:id="rId44"/>
    <p:sldId id="316" r:id="rId45"/>
    <p:sldId id="271" r:id="rId46"/>
    <p:sldId id="317" r:id="rId47"/>
    <p:sldId id="260" r:id="rId48"/>
    <p:sldId id="318" r:id="rId49"/>
    <p:sldId id="267" r:id="rId50"/>
    <p:sldId id="319" r:id="rId51"/>
    <p:sldId id="264" r:id="rId52"/>
    <p:sldId id="320" r:id="rId53"/>
    <p:sldId id="258" r:id="rId54"/>
    <p:sldId id="321" r:id="rId55"/>
    <p:sldId id="259" r:id="rId56"/>
    <p:sldId id="322" r:id="rId57"/>
    <p:sldId id="265" r:id="rId58"/>
    <p:sldId id="323" r:id="rId59"/>
    <p:sldId id="291" r:id="rId60"/>
    <p:sldId id="324" r:id="rId61"/>
    <p:sldId id="275" r:id="rId62"/>
    <p:sldId id="325" r:id="rId63"/>
    <p:sldId id="280" r:id="rId64"/>
    <p:sldId id="326" r:id="rId65"/>
    <p:sldId id="286" r:id="rId6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7371-9EFA-F2C0-5833-2006F929E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0419" y="660400"/>
            <a:ext cx="7772400" cy="1470025"/>
          </a:xfrm>
        </p:spPr>
        <p:txBody>
          <a:bodyPr>
            <a:normAutofit/>
          </a:bodyPr>
          <a:lstStyle/>
          <a:p>
            <a:r>
              <a:rPr lang="fr-FR" sz="4000" b="0" dirty="0">
                <a:solidFill>
                  <a:srgbClr val="FF0000"/>
                </a:solidFill>
                <a:latin typeface="Calibri Light"/>
              </a:rPr>
              <a:t>PROJET PHP </a:t>
            </a:r>
            <a:br>
              <a:rPr lang="fr-FR" sz="4000" dirty="0">
                <a:solidFill>
                  <a:srgbClr val="FF0000"/>
                </a:solidFill>
              </a:rPr>
            </a:br>
            <a:r>
              <a:rPr lang="fr-FR" sz="4000" b="0" dirty="0">
                <a:solidFill>
                  <a:srgbClr val="FF0000"/>
                </a:solidFill>
                <a:latin typeface="Calibri Light"/>
              </a:rPr>
              <a:t>GESTION DE SCOLARITE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0891A-01D3-FDA7-A1F3-DDBA71362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4012" y="2839065"/>
            <a:ext cx="6400800" cy="1752600"/>
          </a:xfrm>
        </p:spPr>
        <p:txBody>
          <a:bodyPr/>
          <a:lstStyle/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DE :ANDRIAMAHEFATIANA </a:t>
            </a:r>
            <a:r>
              <a:rPr lang="fr-FR" sz="2600" b="0" dirty="0" err="1">
                <a:solidFill>
                  <a:srgbClr val="282828"/>
                </a:solidFill>
                <a:latin typeface="Calibri Light"/>
              </a:rPr>
              <a:t>Tiavina</a:t>
            </a: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 err="1">
                <a:solidFill>
                  <a:srgbClr val="282828"/>
                </a:solidFill>
                <a:latin typeface="Calibri Light"/>
              </a:rPr>
              <a:t>Niaina</a:t>
            </a: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00119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11430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 Page de Connexion (Login)</a:t>
            </a:r>
          </a:p>
          <a:p>
            <a:pPr algn="l"/>
            <a:endParaRPr lang="fr-FR" sz="2400" b="1" dirty="0">
              <a:solidFill>
                <a:srgbClr val="FF0000"/>
              </a:solidFill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contenue: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Deux champs principaux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d’utilisateur / Identifiant : l’utilisateur entre son identifiant unique.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Mot de passe : champ masqué pour sécuriser la saisie.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“Se connecter” pour valider l’accès.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Parfois un logo ou le nom de l’application affiché en haut.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Design simple, centré sur l’authentification.</a:t>
            </a:r>
          </a:p>
          <a:p>
            <a:pPr algn="l"/>
            <a:br>
              <a:rPr lang="fr-FR" sz="2000" dirty="0"/>
            </a:br>
            <a:endParaRPr lang="fr-FR" sz="2000" dirty="0"/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Cette page est la porte d’entrée du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Elle permet d’authentifier chaque utilisateur avant qu’il accède aux fonctionnalités.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Empêche tout accès non autorisé aux données sensibles (notes, informations personnelles…).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Garantit la sécurité du système et des informations en vérifiant les identifiants.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Oriente chaque utilisateur (Admin, Professeur, Étudiant) vers son tableau de bord personnalisé.</a:t>
            </a:r>
          </a:p>
          <a:p>
            <a:pPr algn="l"/>
            <a:endParaRPr lang="fr-FR" sz="28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1101178"/>
            <a:ext cx="11430000" cy="53635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3ABBC-8028-1B24-9720-BA7A6BBA3A72}"/>
              </a:ext>
            </a:extLst>
          </p:cNvPr>
          <p:cNvSpPr txBox="1"/>
          <p:nvPr/>
        </p:nvSpPr>
        <p:spPr>
          <a:xfrm>
            <a:off x="3812459" y="393257"/>
            <a:ext cx="60910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 panose="020B0A04020102020204" pitchFamily="34" charset="0"/>
              </a:rPr>
              <a:t>Page de Connexion</a:t>
            </a:r>
          </a:p>
        </p:txBody>
      </p:sp>
    </p:spTree>
    <p:extLst>
      <p:ext uri="{BB962C8B-B14F-4D97-AF65-F5344CB8AC3E}">
        <p14:creationId xmlns:p14="http://schemas.microsoft.com/office/powerpoint/2010/main" val="142526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12976A-6200-54FA-E0E6-B01915B4BFFA}"/>
              </a:ext>
            </a:extLst>
          </p:cNvPr>
          <p:cNvSpPr txBox="1"/>
          <p:nvPr/>
        </p:nvSpPr>
        <p:spPr>
          <a:xfrm>
            <a:off x="140110" y="204976"/>
            <a:ext cx="1176183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d’Accueil</a:t>
            </a:r>
          </a:p>
          <a:p>
            <a:pPr algn="l"/>
            <a:endParaRPr lang="fr-FR" b="1" dirty="0"/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En-tête / bandeau principal avec le nom du système de gestion scolaire et éventuellement un logo.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Menu de navigation vers les principales fonctionnalités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Gestion des étudiants, professeurs, matières, classes…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Accès aux notes, bulletins, évaluations, absences, diplômes, etc.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Tableau de bord présentant des liens rapides vers les pages importantes.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Informations de session : nom de l’utilisateur connecté (admin, prof, élève).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Design clair, structuré pour naviguer facilement dans tout le système.</a:t>
            </a:r>
          </a:p>
          <a:p>
            <a:pPr algn="l"/>
            <a:br>
              <a:rPr lang="fr-FR" sz="2000" dirty="0"/>
            </a:br>
            <a:endParaRPr lang="fr-FR" sz="2000" dirty="0"/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de point de départ du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un accès rapide à toutes les fonctionnalités via un menu centralisé.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Offre une vue globale de tout le système (gestion scolaire complète).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Conçu pour simplifier la navigation des administrateurs, enseignants et étudiants.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Garantit une organisation fluide : chaque utilisateur trouve facilement ce dont il a besoin.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8133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age d' acceu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747217"/>
            <a:ext cx="11430000" cy="53635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54F3F6-A399-C750-154B-911D53010F14}"/>
              </a:ext>
            </a:extLst>
          </p:cNvPr>
          <p:cNvSpPr txBox="1"/>
          <p:nvPr/>
        </p:nvSpPr>
        <p:spPr>
          <a:xfrm>
            <a:off x="4889090" y="161610"/>
            <a:ext cx="31782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LA PAGE D’ ACCEUIL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37B31-727C-94EE-BF0D-1E28FD165499}"/>
              </a:ext>
            </a:extLst>
          </p:cNvPr>
          <p:cNvSpPr txBox="1"/>
          <p:nvPr/>
        </p:nvSpPr>
        <p:spPr>
          <a:xfrm>
            <a:off x="154857" y="225489"/>
            <a:ext cx="12033968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 Page Liste des Étudiants</a:t>
            </a:r>
          </a:p>
          <a:p>
            <a:pPr algn="l"/>
            <a:endParaRPr lang="fr-FR" b="1" dirty="0"/>
          </a:p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tableau clair et structuré qui affiche tous les étudiants inscrits dans le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Matricule ou numéro d’étudiant.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et prénom.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ou filière.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de naissance.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Adresse ou contact.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Barre de recherche ou filtres pour retrouver rapidement un étudiant précis.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à côté de chaque étudiant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Modifier ses informations.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Supprimer l’étudiant du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Ajouter un étudiant pour accéder rapidement au formulaire d’inscription.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visualiser tous les étudiants inscrits en un seul endroit.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Simplifie la gestion des élèves (ajout, modification, suppression).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d’outil de suivi des inscriptions et du nombre d’étudiants par classe.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Idéal pour avoir une vue d’ensemble de la population scolaire.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820971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0175" y="409973"/>
            <a:ext cx="307642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LISTE DES ETUDIANTS</a:t>
            </a:r>
            <a:endParaRPr sz="2800" dirty="0">
              <a:solidFill>
                <a:srgbClr val="FF0000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08CC8E-9807-9D0D-618C-6123E7D49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" y="933193"/>
            <a:ext cx="12188825" cy="5651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DA1E8D-5F99-B78F-7A2D-C5D5A3EC6F74}"/>
              </a:ext>
            </a:extLst>
          </p:cNvPr>
          <p:cNvSpPr txBox="1"/>
          <p:nvPr/>
        </p:nvSpPr>
        <p:spPr>
          <a:xfrm>
            <a:off x="224912" y="570466"/>
            <a:ext cx="11739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d’Étudiant</a:t>
            </a:r>
          </a:p>
          <a:p>
            <a:pPr algn="l"/>
            <a:endParaRPr lang="fr-FR" b="1" dirty="0"/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formulaire d’inscription pour enregistrer un nouvel étudiant.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Nom, prénom.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Matricule / identifiant unique.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de naissance, sexe.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ou filière.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Adresse, téléphone, email (facultatif).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Enregistrer ou Valider pour créer le compte étudiant.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Messages : confirmation de création réussie ou erreur si un champ est manquant.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ajouter rapidement un nouvel étudiant dans le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Assure que chaque étudiant a un profil unique et complet.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la gestion administrative et le suivi des élèves.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00410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1123" y="182880"/>
            <a:ext cx="371095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LA PAGE AJOUT ETUDIANT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ajout etud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412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C5ABE0-FE03-1098-7ED3-94B2E9E7368C}"/>
              </a:ext>
            </a:extLst>
          </p:cNvPr>
          <p:cNvSpPr txBox="1"/>
          <p:nvPr/>
        </p:nvSpPr>
        <p:spPr>
          <a:xfrm>
            <a:off x="195415" y="-114587"/>
            <a:ext cx="11797993" cy="7325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Consulter Note</a:t>
            </a:r>
          </a:p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En-tête avec le titre “Consulter Note” indiquant clairement la fonction de la page.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Menu latéral ou barre de navigation pour accéder aux autres parties du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Une zone de sélection (souvent un menu déroulant ou un champ) permettant de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Choisir l’étudiant ou la classe dont on veut consulter les notes.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Choisir la matière ou la période (trimestre/semestre).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Tableau récapitulatif affichant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Le nom des matières.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Les notes obtenues.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Les coefficients.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La moyenne calculée.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possibles : imprimer, exporter ou revenir en arrière.</a:t>
            </a:r>
          </a:p>
          <a:p>
            <a:br>
              <a:rPr lang="fr-FR" sz="2000" dirty="0"/>
            </a:b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aux administrateurs, enseignants ou étudiants de consulter les notes enregistrées dans le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Offre une vision claire des résultats scolaires pour chaque matière et période.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de base pour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Évaluer les performances des élèves.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Préparer les bulletins scolaires.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Aider au suivi pédagogique.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Conçu pour être rapide, simple et efficace afin de trouver les informations essentielles.</a:t>
            </a:r>
          </a:p>
          <a:p>
            <a:pPr algn="l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40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5716" y="35396"/>
            <a:ext cx="50929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CONSULTER LA NOTE DE L’ETUDIANT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consulter 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63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3EAAAB-9E28-4C0A-685A-5B9ED7045938}"/>
              </a:ext>
            </a:extLst>
          </p:cNvPr>
          <p:cNvSpPr txBox="1"/>
          <p:nvPr/>
        </p:nvSpPr>
        <p:spPr>
          <a:xfrm>
            <a:off x="258097" y="122250"/>
            <a:ext cx="1182083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Recherche d’Étudiant</a:t>
            </a:r>
          </a:p>
          <a:p>
            <a:pPr algn="l"/>
            <a:endParaRPr lang="fr-FR" sz="3200" b="1" dirty="0">
              <a:solidFill>
                <a:srgbClr val="FF0000"/>
              </a:solidFill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 de recherche (par nom, prénom, matricule, classe…).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Résultats affichés sous forme de tableau clair et filtré.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Possibilité d’accéder aux détails de chaque étudiant via un bouton.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Navigation rapide : permet de gagner du temps pour retrouver un élève.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retrouver facilement un étudiant précis dans une grande base de données.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Utile pour les professeurs ou administrateurs qui doivent accéder aux informations rapidement.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Rend la gestion des élèves plus rapide et organisée.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960993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8825" y="174031"/>
            <a:ext cx="309245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>
              <a:solidFill>
                <a:srgbClr val="FF0000"/>
              </a:solidFill>
            </a:endParaRPr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CHERCHER ETUDIANT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chercher etud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591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5C638-0D47-174A-05C5-DCAE20491B78}"/>
              </a:ext>
            </a:extLst>
          </p:cNvPr>
          <p:cNvSpPr txBox="1"/>
          <p:nvPr/>
        </p:nvSpPr>
        <p:spPr>
          <a:xfrm>
            <a:off x="140109" y="246001"/>
            <a:ext cx="12048715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 Page Liste des Professeurs</a:t>
            </a:r>
          </a:p>
          <a:p>
            <a:pPr algn="l"/>
            <a:endParaRPr lang="fr-FR" sz="2600" b="0" dirty="0">
              <a:solidFill>
                <a:srgbClr val="FF0000"/>
              </a:solidFill>
              <a:latin typeface="Calibri Light"/>
            </a:endParaRPr>
          </a:p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Tableau structuré affichant tous les professeurs enregistrés.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et prénom du professeur.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Spécialité ou matière enseignée.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Numéro de téléphone / Email.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Statut ou classe associée.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 Modifier / Supprimer.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Barre de recherche pour retrouver un professeur facilement.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bouton “Ajouter Professeur” pour accéder directement au formulaire d’ajout.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visualiser tous les enseignants inscrits.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la gestion administrative des professeurs.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Donne une vue d’ensemble du corps enseignant.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29870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7026" y="182880"/>
            <a:ext cx="342824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>
              <a:solidFill>
                <a:srgbClr val="FF0000"/>
              </a:solidFill>
            </a:endParaRPr>
          </a:p>
          <a:p>
            <a:pPr algn="l">
              <a:defRPr sz="3200" b="1"/>
            </a:pPr>
            <a:r>
              <a:rPr sz="2600" b="0" dirty="0">
                <a:solidFill>
                  <a:srgbClr val="FF0000"/>
                </a:solidFill>
                <a:latin typeface="Calibri Light"/>
              </a:rPr>
              <a:t>Gestion des </a:t>
            </a:r>
            <a:r>
              <a:rPr sz="2600" b="0" dirty="0" err="1">
                <a:solidFill>
                  <a:srgbClr val="FF0000"/>
                </a:solidFill>
                <a:latin typeface="Calibri Light"/>
              </a:rPr>
              <a:t>Enseignants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liste des pr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217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B51D06-D098-0B05-679F-EA00D2A7E1D2}"/>
              </a:ext>
            </a:extLst>
          </p:cNvPr>
          <p:cNvSpPr txBox="1"/>
          <p:nvPr/>
        </p:nvSpPr>
        <p:spPr>
          <a:xfrm>
            <a:off x="272845" y="343477"/>
            <a:ext cx="119159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Professeur</a:t>
            </a:r>
          </a:p>
          <a:p>
            <a:pPr algn="l"/>
            <a:endParaRPr lang="fr-FR" sz="2600" b="0" dirty="0">
              <a:solidFill>
                <a:srgbClr val="FF0000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Formulaire complet pour enregistrer un nouveau professeur.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Nom, prénom.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Matière enseignée.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Coordonnées (téléphone, email, adresse).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Classe(s) assignée(s).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Valider/Enregistrer pour ajouter le professeur.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Message de confirmation après ajout réussi.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d’intégrer rapidement un nouveau professeur dans la base de données.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Assure une gestion organisée des enseignants.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Centralise toutes les informations importantes pour l’administration.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08954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8877" y="188779"/>
            <a:ext cx="183415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AJOUT PROF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ajout pr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4054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C88C2-E637-4738-BE54-D6E4E884781E}"/>
              </a:ext>
            </a:extLst>
          </p:cNvPr>
          <p:cNvSpPr txBox="1"/>
          <p:nvPr/>
        </p:nvSpPr>
        <p:spPr>
          <a:xfrm>
            <a:off x="140109" y="437181"/>
            <a:ext cx="120487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Chercher Professeur</a:t>
            </a:r>
          </a:p>
          <a:p>
            <a:pPr algn="l"/>
            <a:endParaRPr lang="fr-FR" sz="2600" b="0" dirty="0">
              <a:solidFill>
                <a:srgbClr val="FF0000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 de recherche (nom, matière, téléphone…).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Rechercher.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Résultats affichés dans un tableau filtré avec les informations essentielles.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Modifier / Supprimer pour gérer directement les résultats.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retrouver facilement un professeur précis sans parcourir toute la liste.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Idéal pour gagner du temps dans une grande base de données.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Simplifie le suivi administratif des enseignants.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76000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2558" y="182880"/>
            <a:ext cx="24255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CHERCHER PROF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chercher pr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585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B32BD8-6631-8E2B-D964-B794AF5DC8E3}"/>
              </a:ext>
            </a:extLst>
          </p:cNvPr>
          <p:cNvSpPr txBox="1"/>
          <p:nvPr/>
        </p:nvSpPr>
        <p:spPr>
          <a:xfrm>
            <a:off x="3327" y="116486"/>
            <a:ext cx="1218549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Liste des Matières</a:t>
            </a:r>
          </a:p>
          <a:p>
            <a:pPr algn="l"/>
            <a:endParaRPr lang="fr-FR" sz="2600" b="0" dirty="0">
              <a:solidFill>
                <a:srgbClr val="FF0000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Tableau structuré affichant toutes les matières disponibles.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la matière.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Code ou identifiant de la matière.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Professeur assigné.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associée.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(Modifier / Supprimer) pour gérer chaque matière.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Barre de recherche rapide pour filtrer une matière spécifique.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“Ajouter Matière” visible pour accéder directement à l’ajout.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de répertoire complet de toutes les matières enseignées dans l’établissement.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l’organisation des cours et leur attribution aux professeurs.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une mise à jour rapide (ajout, suppression, modification).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Outil essentiel pour l’administration pédagogique.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3948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9419" y="0"/>
            <a:ext cx="214796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>
              <a:solidFill>
                <a:srgbClr val="FF0000"/>
              </a:solidFill>
            </a:endParaRPr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LISTE MATIERE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7F6B39-E8E4-B73C-4C15-0E1022942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9" y="861774"/>
            <a:ext cx="12188825" cy="56744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E037E-AFC8-9B55-445D-43944E6CA8AE}"/>
              </a:ext>
            </a:extLst>
          </p:cNvPr>
          <p:cNvSpPr txBox="1"/>
          <p:nvPr/>
        </p:nvSpPr>
        <p:spPr>
          <a:xfrm>
            <a:off x="140109" y="181244"/>
            <a:ext cx="12048715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Matière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Formulaire détaillé pour enregistrer une nouvelle matière.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la matière.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Code ou identifiant unique.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Professeur responsable.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Classe(s) concernée(s).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Valider/Enregistrer pour ajouter la matière.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Message de confirmation après validation.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d’intégrer une nouvelle matière dans le système en quelques clics.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Assure une gestion pédagogique structurée.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Évite les doublons en centralisant toutes les informations nécessaires.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Outil important pour préparer les emplois du temps et les programmes scolaires.</a:t>
            </a:r>
          </a:p>
          <a:p>
            <a:pPr algn="l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79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4124" y="332829"/>
            <a:ext cx="27820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AJOUT MATIERE</a:t>
            </a:r>
            <a:endParaRPr sz="20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jout mati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502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025201-4B01-3246-5F91-A2225699D01A}"/>
              </a:ext>
            </a:extLst>
          </p:cNvPr>
          <p:cNvSpPr txBox="1"/>
          <p:nvPr/>
        </p:nvSpPr>
        <p:spPr>
          <a:xfrm>
            <a:off x="685800" y="170393"/>
            <a:ext cx="1112765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 Page Liste Stage</a:t>
            </a:r>
          </a:p>
          <a:p>
            <a:pPr algn="l">
              <a:buNone/>
            </a:pPr>
            <a:endParaRPr lang="fr-FR" sz="2600" b="0" dirty="0">
              <a:solidFill>
                <a:srgbClr val="FF0000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tableau organisé affichant les stages des étudiants.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et prénom de l’étudiant.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ou niveau.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Entreprise d’accueil du stage.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Sujet / Thème du stage.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de début et de fin.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Tuteur de stage ou responsable.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ou liens d’action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Modifier pour corriger les informations du stage.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Supprimer pour retirer un stage.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Voir détails pour afficher la fiche complète du stage.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Centralise tous les stages des étudiants dans une seule interface.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une gestion rapide et efficace des stages.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Offre une vision d’ensemble pour l’administration, les enseignants et le responsable de stage.</a:t>
            </a:r>
          </a:p>
        </p:txBody>
      </p:sp>
    </p:spTree>
    <p:extLst>
      <p:ext uri="{BB962C8B-B14F-4D97-AF65-F5344CB8AC3E}">
        <p14:creationId xmlns:p14="http://schemas.microsoft.com/office/powerpoint/2010/main" val="2348767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0080" y="182880"/>
            <a:ext cx="253575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>
              <a:solidFill>
                <a:srgbClr val="FF0000"/>
              </a:solidFill>
            </a:endParaRPr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LISTE DES STAGES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ffiche 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970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49C692-84E4-8C02-295A-BB990F555BB9}"/>
              </a:ext>
            </a:extLst>
          </p:cNvPr>
          <p:cNvSpPr txBox="1"/>
          <p:nvPr/>
        </p:nvSpPr>
        <p:spPr>
          <a:xfrm>
            <a:off x="789038" y="335169"/>
            <a:ext cx="609108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Stage</a:t>
            </a:r>
          </a:p>
          <a:p>
            <a:pPr algn="l">
              <a:buNone/>
            </a:pPr>
            <a:endParaRPr lang="fr-FR" sz="2600" b="0" dirty="0">
              <a:solidFill>
                <a:srgbClr val="FF0000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formulaire complet pour enregistrer un stage.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l’étudiant (sélection via menu déroulant).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Entreprise où se déroule le stage.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Sujet / Thème du stage.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Durée du stage (date début et fin).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du tuteur.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Enregistrer pour valider l’ajout.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enregistrer officiellement un nouveau stage dans le système.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garder une trace complète de chaque stage.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la préparation des conventions et le suivi pédagogique des élèves.</a:t>
            </a:r>
          </a:p>
        </p:txBody>
      </p:sp>
    </p:spTree>
    <p:extLst>
      <p:ext uri="{BB962C8B-B14F-4D97-AF65-F5344CB8AC3E}">
        <p14:creationId xmlns:p14="http://schemas.microsoft.com/office/powerpoint/2010/main" val="123307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5778" y="182880"/>
            <a:ext cx="19572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AJOUT STAGE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jout 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7193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CBC84-BEF8-07C2-C86B-7126DDA9ED68}"/>
              </a:ext>
            </a:extLst>
          </p:cNvPr>
          <p:cNvSpPr txBox="1"/>
          <p:nvPr/>
        </p:nvSpPr>
        <p:spPr>
          <a:xfrm>
            <a:off x="744794" y="290923"/>
            <a:ext cx="609108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Recherche Stage</a:t>
            </a:r>
          </a:p>
          <a:p>
            <a:pPr algn="l">
              <a:buNone/>
            </a:pPr>
            <a:endParaRPr lang="fr-FR" sz="2600" dirty="0">
              <a:solidFill>
                <a:srgbClr val="FF0000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Une barre de recherche ou formulaire pour trouver un stage rapidement.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Critères possibles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l’étudiant.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l’entreprise.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Sujet ou thème du stage.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Résultats affichés en tableau avec les mêmes informations que la page Liste Stage. 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Accélère la recherche d’informations sur les stages.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retrouver rapidement un stage précis même si la base de données est grande.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Utile pour les réunions pédagogiques, bilans ou suivis d’élèves.</a:t>
            </a:r>
          </a:p>
        </p:txBody>
      </p:sp>
    </p:spTree>
    <p:extLst>
      <p:ext uri="{BB962C8B-B14F-4D97-AF65-F5344CB8AC3E}">
        <p14:creationId xmlns:p14="http://schemas.microsoft.com/office/powerpoint/2010/main" val="4022990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59045" y="174031"/>
            <a:ext cx="309520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RECHERCHE DE STAGE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recherche 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7193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D1AF9E-BD06-72A0-A295-C17421FDF122}"/>
              </a:ext>
            </a:extLst>
          </p:cNvPr>
          <p:cNvSpPr txBox="1"/>
          <p:nvPr/>
        </p:nvSpPr>
        <p:spPr>
          <a:xfrm>
            <a:off x="360977" y="366623"/>
            <a:ext cx="1146687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Liste des Classes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Tableau clair et organisé listant toutes les classes existantes.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la classe (ex. 6e A, Terminale S, etc.).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Niveau scolaire.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Effectif (nombre d’élèves).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Professeur principal (ou responsable).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 Modifier / Supprimer pour gérer chaque classe.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Barre de recherche pour filtrer une classe spécifique.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“Ajouter Classe” pour accéder directement au formulaire d’ajout.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Fournit une vue d’ensemble de l’organisation des classes dans l’établissement.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la gestion administrative et pédagogique (affectation des élèves, organisation des cours).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des modifications rapides des informations liées aux classes.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34881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4176" y="182880"/>
            <a:ext cx="266047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sz="2600" b="0" dirty="0">
                <a:solidFill>
                  <a:srgbClr val="FF0000"/>
                </a:solidFill>
                <a:latin typeface="Calibri Light"/>
              </a:rPr>
              <a:t>Gestion des Class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e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liste cla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166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CE7C32-BA7E-A7BA-6C05-0B657793FFD4}"/>
              </a:ext>
            </a:extLst>
          </p:cNvPr>
          <p:cNvSpPr txBox="1"/>
          <p:nvPr/>
        </p:nvSpPr>
        <p:spPr>
          <a:xfrm>
            <a:off x="494071" y="326185"/>
            <a:ext cx="1126039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Classe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Formulaire simple et structuré pour ajouter une nouvelle classe.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ou code de la classe.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Niveau scolaire.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Professeur principal/responsable.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Nombre d’élèves prévu.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Valider/Enregistrer pour confirmer l’ajout.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Message de confirmation ou d’erreur après validation.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d’ajouter rapidement une nouvelle classe dans le système.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Assure un suivi clair de la structure de l’établissement.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la préparation des emplois du temps et affectations d’élèves.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Centralise toutes les informations pour une gestion efficace des niveaux scolaires.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19827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2159" y="182880"/>
            <a:ext cx="211634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>
              <a:solidFill>
                <a:srgbClr val="FF0000"/>
              </a:solidFill>
            </a:endParaRPr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AJOUT CLASSE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ajout cla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3846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36D912-DA25-93F0-F66F-19E06196B2DF}"/>
              </a:ext>
            </a:extLst>
          </p:cNvPr>
          <p:cNvSpPr txBox="1"/>
          <p:nvPr/>
        </p:nvSpPr>
        <p:spPr>
          <a:xfrm>
            <a:off x="442092" y="296689"/>
            <a:ext cx="11304639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Affiche Conseil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Tableau organisé listant tous les conseils (réunions pédagogiques, conseils de classe, etc.).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ou titre du conseil.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et heure.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concernée.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Membres participants (professeurs, administration, etc.).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Observations ou notes associées.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 Modifier / Supprimer pour chaque conseil.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Barre de recherche pour retrouver rapidement une réunion spécifique.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“Ajouter Conseil” visible pour créer un nouveau conseil.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visualiser et gérer l’historique des conseils de classe et réunions pédagogiques.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Aide l’administration à planifier et suivre les décisions prises lors de chaque conseil.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Centralise les informations pour une organisation fluide des réunions scolaires.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16540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3132" y="235506"/>
            <a:ext cx="292740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>
              <a:solidFill>
                <a:srgbClr val="FF0000"/>
              </a:solidFill>
            </a:endParaRPr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AFFICHAGE CONSEIL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affiche cons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674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BDB939-17DE-66EB-E2F6-D77F9B5FC5EA}"/>
              </a:ext>
            </a:extLst>
          </p:cNvPr>
          <p:cNvSpPr txBox="1"/>
          <p:nvPr/>
        </p:nvSpPr>
        <p:spPr>
          <a:xfrm>
            <a:off x="626807" y="154968"/>
            <a:ext cx="11562018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Conseil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Formulaire complet pour créer un nouveau conseil.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Nom/Titre du conseil.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et heure prévues.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Classe(s) ou groupe(s) concernés.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Liste des participants (professeurs, personnel, etc.).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Notes ou objectifs du conseil.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Valider/Enregistrer pour sauvegarder le conseil.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Message de confirmation ou d’erreur selon la saisie.</a:t>
            </a:r>
          </a:p>
          <a:p>
            <a:pPr algn="l"/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d’organiser et de planifier facilement les conseils (pédagogiques ou administratifs).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Garantit une meilleure traçabilité des décisions scolaires.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Simplifie la communication entre enseignants et administration.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Aide à anticiper les actions à mener pour chaque classe ou élève.</a:t>
            </a:r>
          </a:p>
          <a:p>
            <a:pPr algn="l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109503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6264" y="182880"/>
            <a:ext cx="228780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AJOUT CONSEIL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ajout cons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674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2369" y="5479615"/>
            <a:ext cx="103091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rPr sz="2600" b="0" dirty="0">
                <a:solidFill>
                  <a:srgbClr val="282828"/>
                </a:solidFill>
                <a:latin typeface="Calibri Ligh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610D8-96EF-D4DC-A96F-9068CBD0824E}"/>
              </a:ext>
            </a:extLst>
          </p:cNvPr>
          <p:cNvSpPr txBox="1"/>
          <p:nvPr/>
        </p:nvSpPr>
        <p:spPr>
          <a:xfrm>
            <a:off x="635487" y="295574"/>
            <a:ext cx="113013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endParaRPr lang="fr-FR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4BEFF-C303-E56B-F1A6-2627483C06CE}"/>
              </a:ext>
            </a:extLst>
          </p:cNvPr>
          <p:cNvSpPr txBox="1"/>
          <p:nvPr/>
        </p:nvSpPr>
        <p:spPr>
          <a:xfrm>
            <a:off x="635486" y="153137"/>
            <a:ext cx="10917851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Affiche Bulletin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Une interface dédiée à l’affichage des bulletins scolaires des élèves.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de sélection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de l’élève.</a:t>
            </a:r>
          </a:p>
          <a:p>
            <a:pPr lvl="1" algn="l"/>
            <a:r>
              <a:rPr lang="fr-FR" sz="2000" dirty="0">
                <a:solidFill>
                  <a:srgbClr val="282828"/>
                </a:solidFill>
                <a:latin typeface="Calibri Light"/>
              </a:rPr>
              <a:t>Promotion de l ’ </a:t>
            </a:r>
            <a:r>
              <a:rPr lang="fr-FR" sz="2000" dirty="0" err="1">
                <a:solidFill>
                  <a:srgbClr val="282828"/>
                </a:solidFill>
                <a:latin typeface="Calibri Light"/>
              </a:rPr>
              <a:t>eleve</a:t>
            </a:r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Période ou trimestre concerné.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Rechercher/Afficher pour générer le bulletin.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Zone d’affichage présentant :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Notes par matière.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Moyenne générale.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Appréciations des professeurs.</a:t>
            </a:r>
          </a:p>
          <a:p>
            <a:pPr lvl="1"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Mention ou décision du conseil de classe.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(télécharger/imprimer) pour obtenir le bulletin en format papier ou PDF.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visualiser rapidement les résultats scolaires d’un élève.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le suivi pédagogique (progression, points forts, points à améliorer).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imprimer ou partager les bulletins avec les parents et l’administration.</a:t>
            </a:r>
          </a:p>
          <a:p>
            <a:pPr algn="l"/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Centralise toutes les informations de performance scolaire sur une seule page.</a:t>
            </a:r>
          </a:p>
        </p:txBody>
      </p:sp>
    </p:spTree>
    <p:extLst>
      <p:ext uri="{BB962C8B-B14F-4D97-AF65-F5344CB8AC3E}">
        <p14:creationId xmlns:p14="http://schemas.microsoft.com/office/powerpoint/2010/main" val="3144403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3962" y="35396"/>
            <a:ext cx="418486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sz="2600" b="0" dirty="0">
                <a:solidFill>
                  <a:srgbClr val="FF0000"/>
                </a:solidFill>
                <a:latin typeface="Calibri Light"/>
              </a:rPr>
              <a:t>Gestion des Notes et Bulletins</a:t>
            </a:r>
          </a:p>
        </p:txBody>
      </p:sp>
      <p:pic>
        <p:nvPicPr>
          <p:cNvPr id="3" name="Picture 2" descr="affiche bulle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5912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4E8AEA-85DF-C683-1E4E-0E19F87FCE73}"/>
              </a:ext>
            </a:extLst>
          </p:cNvPr>
          <p:cNvSpPr txBox="1"/>
          <p:nvPr/>
        </p:nvSpPr>
        <p:spPr>
          <a:xfrm>
            <a:off x="228600" y="176157"/>
            <a:ext cx="60910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Type de Diplôme</a:t>
            </a:r>
          </a:p>
          <a:p>
            <a:pPr algn="l">
              <a:buNone/>
            </a:pPr>
            <a:endParaRPr lang="fr-FR" sz="2600" b="0" dirty="0">
              <a:solidFill>
                <a:srgbClr val="FF0000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Contenu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tableau récapitulatif des différents types de diplômes proposés par l’établissement.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Exemples de colonnes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du diplôme (Baccalauréat, Licence, Master…).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Description du diplôme (spécialité, domaine d’étude).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Durée d’obtention (ex. : 3 ans pour Licence).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Modifier un type de diplôme.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Supprimer un type de diplôme.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Ajouter un nouveau type.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gérer et classer les différents diplômes proposés par l’école ou université.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Aide à structurer la base de données académique pour faciliter les inscriptions et l’attribution des diplômes.</a:t>
            </a:r>
          </a:p>
        </p:txBody>
      </p:sp>
    </p:spTree>
    <p:extLst>
      <p:ext uri="{BB962C8B-B14F-4D97-AF65-F5344CB8AC3E}">
        <p14:creationId xmlns:p14="http://schemas.microsoft.com/office/powerpoint/2010/main" val="1842722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38111" y="159283"/>
            <a:ext cx="27126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TYPE DE DIPLOMES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type dipl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5074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CADE6C-EEE6-5863-06CF-B29625947AFF}"/>
              </a:ext>
            </a:extLst>
          </p:cNvPr>
          <p:cNvSpPr txBox="1"/>
          <p:nvPr/>
        </p:nvSpPr>
        <p:spPr>
          <a:xfrm>
            <a:off x="331839" y="202433"/>
            <a:ext cx="609108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Diplômes Obtenus</a:t>
            </a:r>
          </a:p>
          <a:p>
            <a:r>
              <a:rPr lang="fr-FR" sz="2000" dirty="0">
                <a:solidFill>
                  <a:srgbClr val="282828"/>
                </a:solidFill>
                <a:latin typeface="Calibri Light"/>
              </a:rPr>
              <a:t>Contenu: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82828"/>
                </a:solidFill>
                <a:latin typeface="Calibri Light"/>
              </a:rPr>
              <a:t>Un tableau listant les diplômes 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attribués aux étudiants.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et prénom de l’étudiant.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Type de diplôme obtenu.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Année d’obtention.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Mention (Assez bien, Bien, Très Bien…).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Filtres ou options de recherche pour retrouver facilement un diplôme précis.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pour imprimer ou télécharger un diplôme.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Centralise tous les diplômes délivrés aux étudiants.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retrouver rapidement l’historique académique d’un étudiant.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de base pour l’édition d’attestations et pour des besoins administratifs (inscriptions, concours, emplois…).</a:t>
            </a:r>
          </a:p>
        </p:txBody>
      </p:sp>
    </p:spTree>
    <p:extLst>
      <p:ext uri="{BB962C8B-B14F-4D97-AF65-F5344CB8AC3E}">
        <p14:creationId xmlns:p14="http://schemas.microsoft.com/office/powerpoint/2010/main" val="2643104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44440" y="182880"/>
            <a:ext cx="26466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DIPLÔME OBTENU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diplome obt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4574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C15D8-F2F0-038A-216E-B606F9CB1D63}"/>
              </a:ext>
            </a:extLst>
          </p:cNvPr>
          <p:cNvSpPr txBox="1"/>
          <p:nvPr/>
        </p:nvSpPr>
        <p:spPr>
          <a:xfrm>
            <a:off x="213851" y="154968"/>
            <a:ext cx="6091084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Diplôme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formulaire de saisie pour enregistrer un nouveau diplôme.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habituels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l’étudiant (liste déroulante).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Type de diplôme.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ou année d’obtention.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Mention obtenue.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Enregistrer pour valider l’ajout du diplôme.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2000" b="0" dirty="0">
              <a:solidFill>
                <a:srgbClr val="282828"/>
              </a:solidFill>
              <a:latin typeface="Calibri Ligh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à l’administration d’enregistrer un nouveau diplôme dès qu’il est attribué.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le suivi académique complet des étudiants.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Garantit une base de données fiable pour imprimer des diplômes ou bulletins officiels.</a:t>
            </a:r>
          </a:p>
        </p:txBody>
      </p:sp>
    </p:spTree>
    <p:extLst>
      <p:ext uri="{BB962C8B-B14F-4D97-AF65-F5344CB8AC3E}">
        <p14:creationId xmlns:p14="http://schemas.microsoft.com/office/powerpoint/2010/main" val="1809825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4404" y="422257"/>
            <a:ext cx="24000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2600" dirty="0">
                <a:solidFill>
                  <a:srgbClr val="FF0000"/>
                </a:solidFill>
                <a:latin typeface="Calibri Light"/>
              </a:rPr>
              <a:t>AJOUT DIPLOME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ajouter un dipl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3846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7680CF-BC59-5530-6A22-FD56181CE1A9}"/>
              </a:ext>
            </a:extLst>
          </p:cNvPr>
          <p:cNvSpPr txBox="1"/>
          <p:nvPr/>
        </p:nvSpPr>
        <p:spPr>
          <a:xfrm>
            <a:off x="494072" y="14163"/>
            <a:ext cx="11466870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Affichage Évaluation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tableau détaillé listant les évaluations des étudiants.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de l’étudiant.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Matière ou module.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Type d’évaluation.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Note obtenue.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de l’évaluation.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Appréciation.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Filtres de recherche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Par élève, par matière, ou par période.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Modifier une note.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Supprimer une évaluation.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Donne une vue d’ensemble des performances des étudiants.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aux enseignants pour suivre les résultats et repérer les difficultés.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Outil indispensable pour préparer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Bulletins trimestriels.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Réunions de conseils de classe.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Statistiques et rapports pédagogiques</a:t>
            </a: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93821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000" y="182880"/>
            <a:ext cx="302589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AFFICHE EVALUATION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ffiche 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7193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1AE8DF-3B5E-378D-18CA-167979ACCD16}"/>
              </a:ext>
            </a:extLst>
          </p:cNvPr>
          <p:cNvSpPr txBox="1"/>
          <p:nvPr/>
        </p:nvSpPr>
        <p:spPr>
          <a:xfrm>
            <a:off x="862781" y="120384"/>
            <a:ext cx="8487696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 Page Ajout Évaluation</a:t>
            </a:r>
          </a:p>
          <a:p>
            <a:pPr algn="l">
              <a:buNone/>
            </a:pPr>
            <a:r>
              <a:rPr lang="fr-FR" sz="2000" dirty="0">
                <a:solidFill>
                  <a:srgbClr val="282828"/>
                </a:solidFill>
                <a:latin typeface="Calibri Light"/>
              </a:rPr>
              <a:t>Contenu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formulaire clair pour enregistrer une évaluation (note, contrôle, examen…).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et prénom de l’étudiant (sélection via menu déroulant).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Matière ou module évalué.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Type d’évaluation (Contrôle, Examen, Test…).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de l’évaluation.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Note obtenue (sur 20 ou autre barème).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Appréciation ou commentaire du professeur.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Enregistrer pour valider l’évaluation.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d’ajouter facilement une nouvelle note ou évaluation pour un élève.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mettre à jour le bulletin scolaire en temps réel.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la gestion pédagogique en centralisant toutes les évaluations au même endroit.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Garantit une traçabilité complète des performances des élèves.</a:t>
            </a:r>
          </a:p>
        </p:txBody>
      </p:sp>
    </p:spTree>
    <p:extLst>
      <p:ext uri="{BB962C8B-B14F-4D97-AF65-F5344CB8AC3E}">
        <p14:creationId xmlns:p14="http://schemas.microsoft.com/office/powerpoint/2010/main" val="14023478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6850" y="182880"/>
            <a:ext cx="27951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AJOUT EVALUATION</a:t>
            </a:r>
            <a:endParaRPr sz="260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jout 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674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50329D-0448-C8DF-62BE-9C9F9A95C9DA}"/>
              </a:ext>
            </a:extLst>
          </p:cNvPr>
          <p:cNvSpPr txBox="1"/>
          <p:nvPr/>
        </p:nvSpPr>
        <p:spPr>
          <a:xfrm>
            <a:off x="508819" y="397382"/>
            <a:ext cx="1168000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Devoir</a:t>
            </a:r>
          </a:p>
          <a:p>
            <a:pPr algn="l">
              <a:buNone/>
            </a:pPr>
            <a:endParaRPr lang="fr-FR" sz="2600" dirty="0">
              <a:solidFill>
                <a:srgbClr val="282828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formulaire de saisie pour enregistrer un nouveau devoir.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Titre du devoir (ex. : “Devoir Maison Chapitre 3”).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Matière concernée.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ou groupe d’étudiants qui doit le réaliser.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Description du devoir (consignes, ressources nécessaires…).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de remise ou date limite.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Pièces jointes éventuelles (énoncé PDF, ressources).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Enregistrer pour valider et enregistrer le devoir.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aux enseignants d’ajouter et planifier des devoirs pour leurs étudiants.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Centralise toutes les informations liées aux travaux demandés.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Aide les étudiants à s’organiser et ne rien oublier.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Outil de communication directe entre enseignants et élèves.</a:t>
            </a:r>
          </a:p>
        </p:txBody>
      </p:sp>
    </p:spTree>
    <p:extLst>
      <p:ext uri="{BB962C8B-B14F-4D97-AF65-F5344CB8AC3E}">
        <p14:creationId xmlns:p14="http://schemas.microsoft.com/office/powerpoint/2010/main" val="2530373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89627" y="247773"/>
            <a:ext cx="217078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AJOUT DEVOIR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jout dev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4683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D9C6B7-2436-9BE9-933F-5C70F3A4902A}"/>
              </a:ext>
            </a:extLst>
          </p:cNvPr>
          <p:cNvSpPr txBox="1"/>
          <p:nvPr/>
        </p:nvSpPr>
        <p:spPr>
          <a:xfrm>
            <a:off x="759541" y="35114"/>
            <a:ext cx="11009671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Affichage Devoir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tableau détaillé qui liste tous les devoirs.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habituelles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Titre du devoir.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Matière concernée.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de publication.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Date limite de remise.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Statut (À faire / Terminé).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Filtres de recherche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Par matière, par classe, par date.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Modifier ou mettre à jour un devoir.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Supprimer un devoir.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Télécharger des documents associés.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Fournit une vue d’ensemble de tous les devoirs planifiés.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aux professeurs de suivre le statut des travaux (rendus ou non).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Simplifie la gestion des évaluations continues.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Outil pratique pour archiver les devoirs précédents et faciliter les révisions.</a:t>
            </a:r>
          </a:p>
        </p:txBody>
      </p:sp>
    </p:spTree>
    <p:extLst>
      <p:ext uri="{BB962C8B-B14F-4D97-AF65-F5344CB8AC3E}">
        <p14:creationId xmlns:p14="http://schemas.microsoft.com/office/powerpoint/2010/main" val="9394462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04735" y="182880"/>
            <a:ext cx="236789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AFFICHE DEVOIR</a:t>
            </a:r>
            <a:endParaRPr sz="260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ffiche dev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2172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C11D9A-89FA-3CC1-A7A1-70BF042FF7E0}"/>
              </a:ext>
            </a:extLst>
          </p:cNvPr>
          <p:cNvSpPr txBox="1"/>
          <p:nvPr/>
        </p:nvSpPr>
        <p:spPr>
          <a:xfrm>
            <a:off x="243349" y="188362"/>
            <a:ext cx="11945476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Affichage Enseignement</a:t>
            </a:r>
          </a:p>
          <a:p>
            <a:pPr algn="l">
              <a:buNone/>
            </a:pP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tableau récapitulatif listant toutes les affectations d’enseignement.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du professeur.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Matière enseignée.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concernée.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Année ou période scolaire.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Filtres de recherche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Par professeur, par classe, par matière.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Modifier une affectation.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Supprimer une affectation.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Offre une vue d’ensemble de toute l’organisation pédagogique.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gérer les enseignants et leurs cours facilement.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Utile pour planifier les emplois du temps et la répartition des charges.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de référence administrative pour éviter les erreurs d’attribution.</a:t>
            </a:r>
          </a:p>
        </p:txBody>
      </p:sp>
    </p:spTree>
    <p:extLst>
      <p:ext uri="{BB962C8B-B14F-4D97-AF65-F5344CB8AC3E}">
        <p14:creationId xmlns:p14="http://schemas.microsoft.com/office/powerpoint/2010/main" val="41015318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18039" y="188779"/>
            <a:ext cx="34948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AFFICHE ENSEIGNEMENT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ffiche enseig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0499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C88AE8-7042-B7A1-E081-A453FCAD9474}"/>
              </a:ext>
            </a:extLst>
          </p:cNvPr>
          <p:cNvSpPr txBox="1"/>
          <p:nvPr/>
        </p:nvSpPr>
        <p:spPr>
          <a:xfrm>
            <a:off x="317090" y="190905"/>
            <a:ext cx="6091084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Ajout Enseignement</a:t>
            </a:r>
          </a:p>
          <a:p>
            <a:pPr algn="l">
              <a:buNone/>
            </a:pPr>
            <a:r>
              <a:rPr lang="fr-FR" sz="2000" dirty="0">
                <a:solidFill>
                  <a:srgbClr val="282828"/>
                </a:solidFill>
                <a:latin typeface="Calibri Light"/>
              </a:rPr>
              <a:t>Contenu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formulaire complet pour attribuer une matière à un professeur et une classe.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 du professeur (menu déroulant).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Matière à enseigner.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Classe ou groupe d’étudiants concerné.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Année scolaire ou semestre.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Enregistrer pour valider l’affectation.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créer un lien entre un enseignant, une matière et une classe.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une organisation claire des cours et des responsabilités pédagogiques.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Aide à automatiser la génération des emplois du temps et des bulletins.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Facilite le suivi administratif des enseignements (heures de cours, modules affectés, etc.).</a:t>
            </a:r>
          </a:p>
        </p:txBody>
      </p:sp>
    </p:spTree>
    <p:extLst>
      <p:ext uri="{BB962C8B-B14F-4D97-AF65-F5344CB8AC3E}">
        <p14:creationId xmlns:p14="http://schemas.microsoft.com/office/powerpoint/2010/main" val="7996242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1104" y="64893"/>
            <a:ext cx="332661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AJOUT ENSEIGNEMENT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ajout enseig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4683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8CCA69-D4AF-E4A9-E115-3E005E57608A}"/>
              </a:ext>
            </a:extLst>
          </p:cNvPr>
          <p:cNvSpPr txBox="1"/>
          <p:nvPr/>
        </p:nvSpPr>
        <p:spPr>
          <a:xfrm>
            <a:off x="582561" y="73449"/>
            <a:ext cx="11606263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Profil</a:t>
            </a:r>
            <a:endParaRPr lang="fr-FR" sz="2600" dirty="0">
              <a:solidFill>
                <a:srgbClr val="FF0000"/>
              </a:solidFill>
              <a:latin typeface="Calibri Light"/>
            </a:endParaRP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Informations personnelles de l’utilisateur connecté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Nom, prénom.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Identifiant ou matricule.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Adresse email et/ou numéro de téléphone.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Statut (Administrateur, Professeur, Étudiant…).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Photo de profil (si disponible).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Détails complémentaires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dans le système (Admin, Prof, Étudiant).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Informations liées au compte (classe, matière, etc. pour les profs et élèves).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Boutons d’action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Modifier les informations personnelles.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Changer le mot de passe.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Mettre à jour la photo de profil.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Sert à identifier l’utilisateur connecté et afficher toutes ses informations personnelles.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de mettre à jour ses données (email, mot de passe, photo).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Aide à sécuriser le compte (options de gestion de sécurité).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Point central pour accéder à toutes les infos liées à son rôle (ex : prof → matières assignées ; élève → classe, notes, etc.).</a:t>
            </a:r>
          </a:p>
        </p:txBody>
      </p:sp>
    </p:spTree>
    <p:extLst>
      <p:ext uri="{BB962C8B-B14F-4D97-AF65-F5344CB8AC3E}">
        <p14:creationId xmlns:p14="http://schemas.microsoft.com/office/powerpoint/2010/main" val="39647933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41247" y="198120"/>
            <a:ext cx="110632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PROFIL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pro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6356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04194E-C7C9-F13B-B945-8C1AFD15643C}"/>
              </a:ext>
            </a:extLst>
          </p:cNvPr>
          <p:cNvSpPr txBox="1"/>
          <p:nvPr/>
        </p:nvSpPr>
        <p:spPr>
          <a:xfrm>
            <a:off x="744793" y="0"/>
            <a:ext cx="11444031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Changer de mot de passe</a:t>
            </a:r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sz="2000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Un formulaire sécurisé permettant à l’utilisateur de mettre à jour son mot de passe.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Ancien mot de passe : pour vérifier l’identité de l’utilisateur.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Nouveau mot de passe : champ où l’utilisateur saisit son nouveau mot de passe.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Confirmation du mot de passe : pour éviter les erreurs de saisie.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Bouton de validation : “Modifier” ou “Changer le mot de passe”.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Message de confirmation ou d’erreur (si l’ancien mot de passe est incorrect ou si les deux saisies ne correspondent pas).</a:t>
            </a:r>
          </a:p>
          <a:p>
            <a:pPr algn="l">
              <a:buNone/>
            </a:pPr>
            <a:br>
              <a:rPr lang="fr-FR" sz="2000" dirty="0"/>
            </a:br>
            <a:endParaRPr lang="fr-FR" sz="2000" dirty="0"/>
          </a:p>
          <a:p>
            <a:pPr algn="l">
              <a:buNone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Garantir la sécurité du compte en permettant aux utilisateurs de changer régulièrement leurs identifiants.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Permet aux utilisateurs de protéger leurs informations personnelles.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Rend possible une mise à jour rapide et autonome du mot de passe sans passer par l’administrateur.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0" dirty="0">
                <a:solidFill>
                  <a:srgbClr val="282828"/>
                </a:solidFill>
                <a:latin typeface="Calibri Light"/>
              </a:rPr>
              <a:t>Améliore la sécurité globale du système de gestion scolaire.</a:t>
            </a:r>
          </a:p>
        </p:txBody>
      </p:sp>
    </p:spTree>
    <p:extLst>
      <p:ext uri="{BB962C8B-B14F-4D97-AF65-F5344CB8AC3E}">
        <p14:creationId xmlns:p14="http://schemas.microsoft.com/office/powerpoint/2010/main" val="25535994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1165" y="323269"/>
            <a:ext cx="371396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>
              <a:solidFill>
                <a:srgbClr val="FF0000"/>
              </a:solidFill>
            </a:endParaRPr>
          </a:p>
          <a:p>
            <a:pPr algn="l">
              <a:defRPr sz="3200" b="1"/>
            </a:pPr>
            <a:r>
              <a:rPr lang="fr-FR" sz="2600" dirty="0">
                <a:solidFill>
                  <a:srgbClr val="FF0000"/>
                </a:solidFill>
                <a:latin typeface="Calibri Light"/>
              </a:rPr>
              <a:t>CHANGER MOTS DE PASSE </a:t>
            </a:r>
            <a:endParaRPr sz="2600" b="0" dirty="0">
              <a:solidFill>
                <a:srgbClr val="FF0000"/>
              </a:solidFill>
              <a:latin typeface="Calibri Light"/>
            </a:endParaRPr>
          </a:p>
        </p:txBody>
      </p:sp>
      <p:pic>
        <p:nvPicPr>
          <p:cNvPr id="3" name="Picture 2" descr="changer de mots de pas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7143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EE2F6F-FAC8-8752-64F1-B682E04EF934}"/>
              </a:ext>
            </a:extLst>
          </p:cNvPr>
          <p:cNvSpPr txBox="1"/>
          <p:nvPr/>
        </p:nvSpPr>
        <p:spPr>
          <a:xfrm>
            <a:off x="184355" y="24263"/>
            <a:ext cx="1200447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282828"/>
                </a:solidFill>
                <a:latin typeface="Calibri Light"/>
              </a:rPr>
              <a:t> </a:t>
            </a: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Page Inscription</a:t>
            </a:r>
          </a:p>
          <a:p>
            <a:pPr algn="l">
              <a:buNone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b="0" dirty="0">
                <a:solidFill>
                  <a:srgbClr val="282828"/>
                </a:solidFill>
                <a:latin typeface="Calibri Ligh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Un formulaire d’enregistrement destiné aux nouveaux utilisateurs (souvent étudiants ou professeurs).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Champs typiques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Nom et Prénom.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Date de naissance.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Sexe / Genre.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Adresse email et/ou numéro de téléphone.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Nom d’utilisateur (identifiant).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Mot de passe et confirmation.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Classe ou rôle (Étudiant, Professeur, Admin).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Autres informations spécifiques (matricule étudiant, diplôme, etc.).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Bouton S’inscrire / Enregistrer.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Messages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Confirmation d’inscription réussie.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Avertissement si un champ est manquant ou incorrect.</a:t>
            </a:r>
            <a:endParaRPr lang="fr-FR" dirty="0"/>
          </a:p>
          <a:p>
            <a:pPr algn="l">
              <a:buNone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Permet aux nouveaux utilisateurs de créer un compte dans le système.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Centralise les informations nécessaires pour identifier chaque utilisateur.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Aide l’administrateur à gérer les accès selon le rôle (élève, prof, admin).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Garantit une meilleure organisation des données dans la base (chaque étudiant ou professeur a un compte unique).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Simplifie l’accès au système (connexion et suivi personnalisé).</a:t>
            </a:r>
          </a:p>
        </p:txBody>
      </p:sp>
    </p:spTree>
    <p:extLst>
      <p:ext uri="{BB962C8B-B14F-4D97-AF65-F5344CB8AC3E}">
        <p14:creationId xmlns:p14="http://schemas.microsoft.com/office/powerpoint/2010/main" val="17944484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0680" y="604837"/>
            <a:ext cx="191110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2600" dirty="0">
                <a:solidFill>
                  <a:srgbClr val="FF0000"/>
                </a:solidFill>
                <a:latin typeface="Calibri Light"/>
              </a:rPr>
              <a:t>INSCRIPTION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in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6356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E996D8-B068-3648-97A7-3E861AAF41E8}"/>
              </a:ext>
            </a:extLst>
          </p:cNvPr>
          <p:cNvSpPr txBox="1"/>
          <p:nvPr/>
        </p:nvSpPr>
        <p:spPr>
          <a:xfrm>
            <a:off x="420330" y="0"/>
            <a:ext cx="1162910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2600" b="0" dirty="0">
                <a:solidFill>
                  <a:srgbClr val="FF0000"/>
                </a:solidFill>
                <a:latin typeface="Calibri Light"/>
              </a:rPr>
              <a:t> Page Liste des Utilisateurs</a:t>
            </a:r>
          </a:p>
          <a:p>
            <a:pPr algn="l">
              <a:buNone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</a:t>
            </a:r>
            <a:r>
              <a:rPr lang="fr-FR" dirty="0">
                <a:solidFill>
                  <a:srgbClr val="282828"/>
                </a:solidFill>
                <a:latin typeface="Calibri Light"/>
              </a:rPr>
              <a:t>ontenu</a:t>
            </a:r>
            <a:r>
              <a:rPr lang="fr-FR" b="0" dirty="0">
                <a:solidFill>
                  <a:srgbClr val="282828"/>
                </a:solidFill>
                <a:latin typeface="Calibri Light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Un tableau récapitulatif contenant tous les utilisateurs enregistrés dans le système (administrateurs, professeurs, étudiants…).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Colonnes typiques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Nom et prénom de l’utilisateur.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Identifiant ou nom d’utilisateur.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Rôle (Admin, Professeur, Étudiant).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Adresse email / contact.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Classe (si étudiant) ou matières (si professeur).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Options de gestion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Bouton Modifier : pour changer les informations de l’utilisateur.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Bouton Supprimer : pour retirer un compte du système.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Barre de recherche / filtres pour trouver rapidement un utilisateur spécifique.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Possibilité d’ajouter un nouvel utilisateur via un bouton ou lien “Ajouter”.</a:t>
            </a:r>
          </a:p>
          <a:p>
            <a:pPr algn="l">
              <a:buNone/>
            </a:pPr>
            <a:endParaRPr lang="fr-FR" b="0" dirty="0">
              <a:solidFill>
                <a:srgbClr val="282828"/>
              </a:solidFill>
              <a:latin typeface="Calibri Light"/>
            </a:endParaRPr>
          </a:p>
          <a:p>
            <a:pPr algn="l">
              <a:buNone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Rôle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Sert à visualiser et gérer l’ensemble des comptes utilisateurs.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Permet à l’administrateur de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Contrôler les accès.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Mettre à jour les informations.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Supprimer ou ajouter des comptes.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Donne une vue d’ensemble claire de tous les profils enregistrés (professeurs, élèves, admins).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282828"/>
                </a:solidFill>
                <a:latin typeface="Calibri Light"/>
              </a:rPr>
              <a:t>Facilite la gestion et l’organisation des accès dans tout le système scolaire.</a:t>
            </a:r>
          </a:p>
        </p:txBody>
      </p:sp>
    </p:spTree>
    <p:extLst>
      <p:ext uri="{BB962C8B-B14F-4D97-AF65-F5344CB8AC3E}">
        <p14:creationId xmlns:p14="http://schemas.microsoft.com/office/powerpoint/2010/main" val="4014670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1435" y="445536"/>
            <a:ext cx="3245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2600" dirty="0">
                <a:solidFill>
                  <a:srgbClr val="FF0000"/>
                </a:solidFill>
                <a:latin typeface="Calibri Light"/>
              </a:rPr>
              <a:t>LISTE DES UTILISATEUR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 descr="liste des utilisat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55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3868</Words>
  <Application>Microsoft Office PowerPoint</Application>
  <PresentationFormat>Custom</PresentationFormat>
  <Paragraphs>608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Arial Black</vt:lpstr>
      <vt:lpstr>Calibri</vt:lpstr>
      <vt:lpstr>Calibri Light</vt:lpstr>
      <vt:lpstr>Office Theme</vt:lpstr>
      <vt:lpstr>PROJET PHP  GESTION DE SCOLARITE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Bob Rogers</cp:lastModifiedBy>
  <cp:revision>7</cp:revision>
  <dcterms:created xsi:type="dcterms:W3CDTF">2013-01-27T09:14:16Z</dcterms:created>
  <dcterms:modified xsi:type="dcterms:W3CDTF">2025-08-31T17:31:00Z</dcterms:modified>
  <cp:category/>
</cp:coreProperties>
</file>